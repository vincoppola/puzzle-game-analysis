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258" r:id="rId6"/>
    <p:sldId id="267" r:id="rId7"/>
    <p:sldId id="289" r:id="rId8"/>
    <p:sldId id="266" r:id="rId9"/>
    <p:sldId id="285" r:id="rId10"/>
    <p:sldId id="287" r:id="rId11"/>
    <p:sldId id="275" r:id="rId12"/>
    <p:sldId id="279" r:id="rId13"/>
    <p:sldId id="286" r:id="rId14"/>
    <p:sldId id="265" r:id="rId15"/>
    <p:sldId id="28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4C7"/>
    <a:srgbClr val="DDD6C9"/>
    <a:srgbClr val="DCD5C8"/>
    <a:srgbClr val="E0DACE"/>
    <a:srgbClr val="FFFFFF"/>
    <a:srgbClr val="E74B35"/>
    <a:srgbClr val="07743A"/>
    <a:srgbClr val="9A9C9D"/>
    <a:srgbClr val="000000"/>
    <a:srgbClr val="9F0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5181" autoAdjust="0"/>
  </p:normalViewPr>
  <p:slideViewPr>
    <p:cSldViewPr snapToGrid="0">
      <p:cViewPr varScale="1">
        <p:scale>
          <a:sx n="80" d="100"/>
          <a:sy n="80" d="100"/>
        </p:scale>
        <p:origin x="787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37E59-A972-40FA-976E-7C7D7D547A2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902B89-D136-4480-AAAF-8C3CA8C4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1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902B89-D136-4480-AAAF-8C3CA8C47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5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7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7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4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3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0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0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2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0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8525476-C73D-425E-B078-F05888F2960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3E7A85B-F159-4D6E-A17C-5EF45ABC2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ECBF-E809-4BE4-A3E6-96F14744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94560"/>
            <a:ext cx="6858000" cy="18288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500" b="1" dirty="0">
                <a:solidFill>
                  <a:srgbClr val="1F3A5F"/>
                </a:solidFill>
                <a:latin typeface="Calibri"/>
              </a:rPr>
              <a:t>New Interactive Puzzle Game Evaluation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5CCA4B1-86D9-637F-FAB9-1E4B65EEF18E}"/>
              </a:ext>
            </a:extLst>
          </p:cNvPr>
          <p:cNvSpPr txBox="1">
            <a:spLocks/>
          </p:cNvSpPr>
          <p:nvPr/>
        </p:nvSpPr>
        <p:spPr>
          <a:xfrm>
            <a:off x="7315200" y="2194560"/>
            <a:ext cx="4318660" cy="2091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rgbClr val="FF0000"/>
                </a:solidFill>
                <a:latin typeface="+mn-lt"/>
              </a:rPr>
              <a:t>KEY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pPr algn="ctr"/>
            <a:r>
              <a:rPr lang="en-US" b="1" u="sng" dirty="0">
                <a:solidFill>
                  <a:srgbClr val="FF0000"/>
                </a:solidFill>
                <a:latin typeface="+mn-lt"/>
              </a:rPr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3091597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3">
            <a:extLst>
              <a:ext uri="{FF2B5EF4-FFF2-40B4-BE49-F238E27FC236}">
                <a16:creationId xmlns:a16="http://schemas.microsoft.com/office/drawing/2014/main" id="{F235C7AC-C513-41A5-A709-90908F1B5B83}"/>
              </a:ext>
            </a:extLst>
          </p:cNvPr>
          <p:cNvGrpSpPr>
            <a:grpSpLocks/>
          </p:cNvGrpSpPr>
          <p:nvPr/>
        </p:nvGrpSpPr>
        <p:grpSpPr bwMode="auto">
          <a:xfrm>
            <a:off x="8677588" y="2766662"/>
            <a:ext cx="2445900" cy="1659894"/>
            <a:chOff x="1143000" y="2794203"/>
            <a:chExt cx="1695848" cy="1175229"/>
          </a:xfrm>
          <a:solidFill>
            <a:srgbClr val="E74B35"/>
          </a:solidFill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471F464E-6297-483F-A199-50666D330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794203"/>
              <a:ext cx="1346994" cy="1172403"/>
            </a:xfrm>
            <a:prstGeom prst="rect">
              <a:avLst/>
            </a:prstGeom>
            <a:grpFill/>
            <a:ln w="25400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  <p:sp>
          <p:nvSpPr>
            <p:cNvPr id="9" name="Triangle 35">
              <a:extLst>
                <a:ext uri="{FF2B5EF4-FFF2-40B4-BE49-F238E27FC236}">
                  <a16:creationId xmlns:a16="http://schemas.microsoft.com/office/drawing/2014/main" id="{73E4DB83-2141-4A13-8930-A058ABA7E0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76807" y="3207391"/>
              <a:ext cx="1175227" cy="348855"/>
            </a:xfrm>
            <a:prstGeom prst="triangle">
              <a:avLst>
                <a:gd name="adj" fmla="val 50000"/>
              </a:avLst>
            </a:prstGeom>
            <a:grpFill/>
            <a:ln w="25400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</p:grpSp>
      <p:grpSp>
        <p:nvGrpSpPr>
          <p:cNvPr id="13" name="Group 24">
            <a:extLst>
              <a:ext uri="{FF2B5EF4-FFF2-40B4-BE49-F238E27FC236}">
                <a16:creationId xmlns:a16="http://schemas.microsoft.com/office/drawing/2014/main" id="{E972F0FF-7D89-4A48-A695-2C704911D816}"/>
              </a:ext>
            </a:extLst>
          </p:cNvPr>
          <p:cNvGrpSpPr>
            <a:grpSpLocks/>
          </p:cNvGrpSpPr>
          <p:nvPr/>
        </p:nvGrpSpPr>
        <p:grpSpPr bwMode="auto">
          <a:xfrm>
            <a:off x="6201758" y="2766661"/>
            <a:ext cx="3087029" cy="1663895"/>
            <a:chOff x="1143000" y="2794203"/>
            <a:chExt cx="1695848" cy="1175229"/>
          </a:xfrm>
          <a:solidFill>
            <a:srgbClr val="FFFFFF"/>
          </a:solidFill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0AD1100-ECCD-41BE-8A20-B5D55C974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794203"/>
              <a:ext cx="1346994" cy="117240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 dirty="0"/>
            </a:p>
          </p:txBody>
        </p:sp>
        <p:sp>
          <p:nvSpPr>
            <p:cNvPr id="15" name="Triangle 26">
              <a:extLst>
                <a:ext uri="{FF2B5EF4-FFF2-40B4-BE49-F238E27FC236}">
                  <a16:creationId xmlns:a16="http://schemas.microsoft.com/office/drawing/2014/main" id="{FBC69B67-D245-49BF-BEB0-9071366988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76807" y="3207391"/>
              <a:ext cx="1175227" cy="348855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</p:grpSp>
      <p:grpSp>
        <p:nvGrpSpPr>
          <p:cNvPr id="16" name="Group 21">
            <a:extLst>
              <a:ext uri="{FF2B5EF4-FFF2-40B4-BE49-F238E27FC236}">
                <a16:creationId xmlns:a16="http://schemas.microsoft.com/office/drawing/2014/main" id="{AED380BB-65A8-4710-80A9-76A4E348F6B9}"/>
              </a:ext>
            </a:extLst>
          </p:cNvPr>
          <p:cNvGrpSpPr>
            <a:grpSpLocks/>
          </p:cNvGrpSpPr>
          <p:nvPr/>
        </p:nvGrpSpPr>
        <p:grpSpPr bwMode="auto">
          <a:xfrm>
            <a:off x="4350724" y="2754974"/>
            <a:ext cx="3084413" cy="1684337"/>
            <a:chOff x="1135245" y="2799857"/>
            <a:chExt cx="1695849" cy="1175227"/>
          </a:xfrm>
          <a:solidFill>
            <a:srgbClr val="E74B35"/>
          </a:solidFill>
        </p:grpSpPr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99A5842E-18F7-48A6-8E78-B10DC7EEC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45" y="2799857"/>
              <a:ext cx="1346994" cy="117240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 dirty="0"/>
            </a:p>
          </p:txBody>
        </p:sp>
        <p:sp>
          <p:nvSpPr>
            <p:cNvPr id="18" name="Triangle 23">
              <a:extLst>
                <a:ext uri="{FF2B5EF4-FFF2-40B4-BE49-F238E27FC236}">
                  <a16:creationId xmlns:a16="http://schemas.microsoft.com/office/drawing/2014/main" id="{AAE24D0B-E6B8-4681-A4AD-C5B1D9AC49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69053" y="3213043"/>
              <a:ext cx="1175227" cy="348855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CD301A-4986-4F8B-BFB3-05F1F1097247}"/>
              </a:ext>
            </a:extLst>
          </p:cNvPr>
          <p:cNvGrpSpPr>
            <a:grpSpLocks/>
          </p:cNvGrpSpPr>
          <p:nvPr/>
        </p:nvGrpSpPr>
        <p:grpSpPr bwMode="auto">
          <a:xfrm>
            <a:off x="2876387" y="2752298"/>
            <a:ext cx="2684732" cy="1684337"/>
            <a:chOff x="1143000" y="2794203"/>
            <a:chExt cx="1695848" cy="1175229"/>
          </a:xfrm>
          <a:solidFill>
            <a:srgbClr val="FFFFFF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F6B8807-077D-4692-AC03-685894BAA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2794203"/>
              <a:ext cx="1346994" cy="117240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90027F08-91BE-4C78-9AF0-992ABD9B2A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76807" y="3207391"/>
              <a:ext cx="1175227" cy="348855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hangingPunct="1"/>
              <a:endParaRPr lang="en-US" altLang="en-US" sz="42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F28BB8-D210-15B3-8D18-64E39B5EDA5F}"/>
              </a:ext>
            </a:extLst>
          </p:cNvPr>
          <p:cNvGrpSpPr/>
          <p:nvPr/>
        </p:nvGrpSpPr>
        <p:grpSpPr>
          <a:xfrm>
            <a:off x="1061448" y="2745948"/>
            <a:ext cx="2578286" cy="1690687"/>
            <a:chOff x="1061448" y="2745948"/>
            <a:chExt cx="2578286" cy="1690687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83080F62-3756-424B-AFF7-9AF642BBE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513" y="2752021"/>
              <a:ext cx="2042294" cy="1680561"/>
            </a:xfrm>
            <a:prstGeom prst="rect">
              <a:avLst/>
            </a:prstGeom>
            <a:solidFill>
              <a:srgbClr val="E74B35"/>
            </a:solidFill>
            <a:ln w="25400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en-US" altLang="en-US" sz="4200" dirty="0"/>
            </a:p>
          </p:txBody>
        </p:sp>
        <p:sp>
          <p:nvSpPr>
            <p:cNvPr id="24" name="Triangle 6">
              <a:extLst>
                <a:ext uri="{FF2B5EF4-FFF2-40B4-BE49-F238E27FC236}">
                  <a16:creationId xmlns:a16="http://schemas.microsoft.com/office/drawing/2014/main" id="{141CC77D-A19C-4B9C-B5C4-F91B278057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32965" y="3329865"/>
              <a:ext cx="1684610" cy="528929"/>
            </a:xfrm>
            <a:prstGeom prst="triangle">
              <a:avLst>
                <a:gd name="adj" fmla="val 50000"/>
              </a:avLst>
            </a:prstGeom>
            <a:solidFill>
              <a:srgbClr val="E74B35"/>
            </a:solidFill>
            <a:ln w="25400" algn="ctr">
              <a:noFill/>
              <a:round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en-US" altLang="en-US" sz="4200" dirty="0"/>
            </a:p>
          </p:txBody>
        </p:sp>
        <p:sp>
          <p:nvSpPr>
            <p:cNvPr id="25" name="Triangle 27">
              <a:extLst>
                <a:ext uri="{FF2B5EF4-FFF2-40B4-BE49-F238E27FC236}">
                  <a16:creationId xmlns:a16="http://schemas.microsoft.com/office/drawing/2014/main" id="{BD85BF59-C7D9-4161-A660-22092912CF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3608" y="3323788"/>
              <a:ext cx="1684610" cy="528929"/>
            </a:xfrm>
            <a:prstGeom prst="triangle">
              <a:avLst>
                <a:gd name="adj" fmla="val 50000"/>
              </a:avLst>
            </a:prstGeom>
            <a:solidFill>
              <a:srgbClr val="DCD5C8"/>
            </a:solidFill>
            <a:ln w="25400" algn="ctr">
              <a:solidFill>
                <a:srgbClr val="DCD4C7"/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1" hangingPunct="1"/>
              <a:endParaRPr lang="en-US" altLang="en-US" sz="4200" dirty="0"/>
            </a:p>
          </p:txBody>
        </p:sp>
      </p:grpSp>
      <p:sp>
        <p:nvSpPr>
          <p:cNvPr id="26" name="TextBox 9">
            <a:extLst>
              <a:ext uri="{FF2B5EF4-FFF2-40B4-BE49-F238E27FC236}">
                <a16:creationId xmlns:a16="http://schemas.microsoft.com/office/drawing/2014/main" id="{2A1FA707-3D6F-4378-8341-F75DAD505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691" y="3249915"/>
            <a:ext cx="142557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Introduction and </a:t>
            </a:r>
          </a:p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27" name="TextBox 31">
            <a:extLst>
              <a:ext uri="{FF2B5EF4-FFF2-40B4-BE49-F238E27FC236}">
                <a16:creationId xmlns:a16="http://schemas.microsoft.com/office/drawing/2014/main" id="{078EB587-EFF1-4C0E-B9CF-FAD9F7B4E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119" y="3130217"/>
            <a:ext cx="166523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Stickiness – Longevity and Consistency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53A73CDF-AE8E-4E95-B531-2FB8D8273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798" y="3136138"/>
            <a:ext cx="160105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Conversion and Purchasing</a:t>
            </a: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02A345EC-CF14-4C3D-AD06-99522286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7642" y="3226575"/>
            <a:ext cx="188929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0" name="TextBox 32">
            <a:extLst>
              <a:ext uri="{FF2B5EF4-FFF2-40B4-BE49-F238E27FC236}">
                <a16:creationId xmlns:a16="http://schemas.microsoft.com/office/drawing/2014/main" id="{4CC5E996-7D4D-4665-9C7A-AE057134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204" y="3249915"/>
            <a:ext cx="17166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b="1" dirty="0">
                <a:latin typeface="Calibri" panose="02020603050405020304" pitchFamily="18" charset="0"/>
                <a:cs typeface="Times New Roman" panose="02020603050405020304" pitchFamily="18" charset="0"/>
              </a:rPr>
              <a:t>Active Users and Retention </a:t>
            </a:r>
          </a:p>
        </p:txBody>
      </p:sp>
      <p:sp>
        <p:nvSpPr>
          <p:cNvPr id="38" name="Line 5">
            <a:extLst>
              <a:ext uri="{FF2B5EF4-FFF2-40B4-BE49-F238E27FC236}">
                <a16:creationId xmlns:a16="http://schemas.microsoft.com/office/drawing/2014/main" id="{36253AAA-635E-4502-8184-D8F6580B3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5">
            <a:extLst>
              <a:ext uri="{FF2B5EF4-FFF2-40B4-BE49-F238E27FC236}">
                <a16:creationId xmlns:a16="http://schemas.microsoft.com/office/drawing/2014/main" id="{40BAD870-C495-4DDA-A23E-DBF223E26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22979734-8907-41C4-978B-E8DBD4625724}"/>
              </a:ext>
            </a:extLst>
          </p:cNvPr>
          <p:cNvSpPr>
            <a:spLocks/>
          </p:cNvSpPr>
          <p:nvPr/>
        </p:nvSpPr>
        <p:spPr bwMode="auto">
          <a:xfrm>
            <a:off x="5262926" y="87882"/>
            <a:ext cx="1666162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Helvetica" pitchFamily="2" charset="0"/>
              </a:rPr>
              <a:t>Agenda</a:t>
            </a:r>
          </a:p>
        </p:txBody>
      </p:sp>
      <p:pic>
        <p:nvPicPr>
          <p:cNvPr id="51" name="Graphic 50" descr="Money with solid fill">
            <a:extLst>
              <a:ext uri="{FF2B5EF4-FFF2-40B4-BE49-F238E27FC236}">
                <a16:creationId xmlns:a16="http://schemas.microsoft.com/office/drawing/2014/main" id="{88787EC6-D61A-4D77-B293-92165E0DF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0590" y="2042765"/>
            <a:ext cx="755703" cy="755703"/>
          </a:xfrm>
          <a:prstGeom prst="rect">
            <a:avLst/>
          </a:prstGeom>
        </p:spPr>
      </p:pic>
      <p:pic>
        <p:nvPicPr>
          <p:cNvPr id="47" name="Graphic 46" descr="Presentation with pie chart with solid fill">
            <a:extLst>
              <a:ext uri="{FF2B5EF4-FFF2-40B4-BE49-F238E27FC236}">
                <a16:creationId xmlns:a16="http://schemas.microsoft.com/office/drawing/2014/main" id="{442B93DE-28DF-48D8-A78B-C5536905A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5168" y="2031472"/>
            <a:ext cx="755703" cy="755703"/>
          </a:xfrm>
          <a:prstGeom prst="rect">
            <a:avLst/>
          </a:prstGeom>
        </p:spPr>
      </p:pic>
      <p:pic>
        <p:nvPicPr>
          <p:cNvPr id="49" name="Graphic 48" descr="Folder Search with solid fill">
            <a:extLst>
              <a:ext uri="{FF2B5EF4-FFF2-40B4-BE49-F238E27FC236}">
                <a16:creationId xmlns:a16="http://schemas.microsoft.com/office/drawing/2014/main" id="{8533DE9D-1788-40C5-B36F-973F3E0425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3776" y="2012228"/>
            <a:ext cx="755703" cy="755703"/>
          </a:xfrm>
          <a:prstGeom prst="rect">
            <a:avLst/>
          </a:prstGeom>
        </p:spPr>
      </p:pic>
      <p:pic>
        <p:nvPicPr>
          <p:cNvPr id="43" name="Graphic 42" descr="Bullseye with solid fill">
            <a:extLst>
              <a:ext uri="{FF2B5EF4-FFF2-40B4-BE49-F238E27FC236}">
                <a16:creationId xmlns:a16="http://schemas.microsoft.com/office/drawing/2014/main" id="{26BB251F-D803-7E64-5818-E255706EE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5619" y="2056991"/>
            <a:ext cx="687003" cy="687003"/>
          </a:xfrm>
          <a:prstGeom prst="rect">
            <a:avLst/>
          </a:prstGeom>
        </p:spPr>
      </p:pic>
      <p:pic>
        <p:nvPicPr>
          <p:cNvPr id="44" name="Graphic 43" descr="User network with solid fill">
            <a:extLst>
              <a:ext uri="{FF2B5EF4-FFF2-40B4-BE49-F238E27FC236}">
                <a16:creationId xmlns:a16="http://schemas.microsoft.com/office/drawing/2014/main" id="{8F516B49-01C3-18F3-DD77-17108F4CA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1196" y="2050892"/>
            <a:ext cx="755703" cy="7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9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2C98550A-AACC-3F3A-DE7A-E40EA00BF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22" y="749058"/>
            <a:ext cx="8579633" cy="164891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CC1C176-D90D-A7DE-DFC0-BD065810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04" y="2469000"/>
            <a:ext cx="8579633" cy="186703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AB02604-7E79-77C4-FE15-4AE8B249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04" y="4405571"/>
            <a:ext cx="8579633" cy="186703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38" name="Line 5">
            <a:extLst>
              <a:ext uri="{FF2B5EF4-FFF2-40B4-BE49-F238E27FC236}">
                <a16:creationId xmlns:a16="http://schemas.microsoft.com/office/drawing/2014/main" id="{646A5B03-8754-431B-B1C8-0332254E8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5">
            <a:extLst>
              <a:ext uri="{FF2B5EF4-FFF2-40B4-BE49-F238E27FC236}">
                <a16:creationId xmlns:a16="http://schemas.microsoft.com/office/drawing/2014/main" id="{351ACD29-4917-4350-B378-CA2756721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2299F1A9-03E3-48E2-93D0-4FA0B608C217}"/>
              </a:ext>
            </a:extLst>
          </p:cNvPr>
          <p:cNvSpPr>
            <a:spLocks/>
          </p:cNvSpPr>
          <p:nvPr/>
        </p:nvSpPr>
        <p:spPr bwMode="auto">
          <a:xfrm>
            <a:off x="3037060" y="80027"/>
            <a:ext cx="6117893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Introduction and Tools Used</a:t>
            </a:r>
          </a:p>
        </p:txBody>
      </p:sp>
      <p:sp>
        <p:nvSpPr>
          <p:cNvPr id="49" name="AutoShape 2">
            <a:extLst>
              <a:ext uri="{FF2B5EF4-FFF2-40B4-BE49-F238E27FC236}">
                <a16:creationId xmlns:a16="http://schemas.microsoft.com/office/drawing/2014/main" id="{A80D7613-9D60-46F3-A22B-B295AE3D4B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Graphic 13" descr="Folder Search with solid fill">
            <a:extLst>
              <a:ext uri="{FF2B5EF4-FFF2-40B4-BE49-F238E27FC236}">
                <a16:creationId xmlns:a16="http://schemas.microsoft.com/office/drawing/2014/main" id="{CB6A0FA0-E7D4-45A7-A292-DCE838565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8174" y="-28521"/>
            <a:ext cx="755703" cy="7557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0C666C-EF78-BD14-CE3C-EDAA97168BB4}"/>
              </a:ext>
            </a:extLst>
          </p:cNvPr>
          <p:cNvSpPr txBox="1"/>
          <p:nvPr/>
        </p:nvSpPr>
        <p:spPr>
          <a:xfrm>
            <a:off x="764073" y="889102"/>
            <a:ext cx="8305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</a:rPr>
              <a:t>Tools Used: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1. R Studio used for data Import, Cleaning &amp; Analysis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2. Tableau – Used for further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151F1-9D40-8094-C560-DF50269CF093}"/>
              </a:ext>
            </a:extLst>
          </p:cNvPr>
          <p:cNvSpPr txBox="1"/>
          <p:nvPr/>
        </p:nvSpPr>
        <p:spPr>
          <a:xfrm>
            <a:off x="764072" y="2467500"/>
            <a:ext cx="83052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</a:rPr>
              <a:t>Initial Data Issues Found: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1. Significant ‘Activity’ &amp; ‘Purchase’ data missing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2. Impossible ‘Match’ data results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3. Significant Outliers present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13CF1-AD2A-2C41-3376-BA8E4EA5B362}"/>
              </a:ext>
            </a:extLst>
          </p:cNvPr>
          <p:cNvSpPr txBox="1"/>
          <p:nvPr/>
        </p:nvSpPr>
        <p:spPr>
          <a:xfrm>
            <a:off x="764072" y="4336911"/>
            <a:ext cx="83052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</a:rPr>
              <a:t>Issue Handling: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1. Imputed data w/ meta data of similar records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2. Altered all 0 and -1 records to be 1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3. Identified and labeled outliers</a:t>
            </a:r>
          </a:p>
        </p:txBody>
      </p:sp>
      <p:pic>
        <p:nvPicPr>
          <p:cNvPr id="16" name="Picture 15" descr="A blue and grey logo&#10;&#10;Description automatically generated">
            <a:extLst>
              <a:ext uri="{FF2B5EF4-FFF2-40B4-BE49-F238E27FC236}">
                <a16:creationId xmlns:a16="http://schemas.microsoft.com/office/drawing/2014/main" id="{3CA74E91-3ED1-7C94-79C1-14D129E57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334" y="4037160"/>
            <a:ext cx="2728845" cy="2114853"/>
          </a:xfrm>
          <a:prstGeom prst="rect">
            <a:avLst/>
          </a:prstGeom>
        </p:spPr>
      </p:pic>
      <p:pic>
        <p:nvPicPr>
          <p:cNvPr id="7" name="Picture 6" descr="A logo with colorful crosses&#10;&#10;Description automatically generated">
            <a:extLst>
              <a:ext uri="{FF2B5EF4-FFF2-40B4-BE49-F238E27FC236}">
                <a16:creationId xmlns:a16="http://schemas.microsoft.com/office/drawing/2014/main" id="{8714201D-AD63-E17F-CF35-3C5DAFDC9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195" y="1525557"/>
            <a:ext cx="3024461" cy="170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6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>
            <a:extLst>
              <a:ext uri="{FF2B5EF4-FFF2-40B4-BE49-F238E27FC236}">
                <a16:creationId xmlns:a16="http://schemas.microsoft.com/office/drawing/2014/main" id="{ABDF7FB6-08EB-89F2-6B95-31EA44AA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300"/>
            <a:ext cx="11040736" cy="341782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9713" y="6062662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96B538-2065-40BC-B597-6ABC0C59598B}"/>
              </a:ext>
            </a:extLst>
          </p:cNvPr>
          <p:cNvSpPr>
            <a:spLocks/>
          </p:cNvSpPr>
          <p:nvPr/>
        </p:nvSpPr>
        <p:spPr bwMode="auto">
          <a:xfrm>
            <a:off x="3148865" y="87882"/>
            <a:ext cx="58943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Helvetica" pitchFamily="2" charset="0"/>
              </a:rPr>
              <a:t>Active Users and Retention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4BCEF5-19C5-4372-9AB2-013BC5236FA3}"/>
              </a:ext>
            </a:extLst>
          </p:cNvPr>
          <p:cNvSpPr txBox="1"/>
          <p:nvPr/>
        </p:nvSpPr>
        <p:spPr>
          <a:xfrm>
            <a:off x="283216" y="838310"/>
            <a:ext cx="12089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2" name="Graphic 1" descr="User network with solid fill">
            <a:extLst>
              <a:ext uri="{FF2B5EF4-FFF2-40B4-BE49-F238E27FC236}">
                <a16:creationId xmlns:a16="http://schemas.microsoft.com/office/drawing/2014/main" id="{277E5608-F0F4-E518-51C9-3990480C0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2625" y="-20666"/>
            <a:ext cx="755703" cy="755703"/>
          </a:xfrm>
          <a:prstGeom prst="rect">
            <a:avLst/>
          </a:prstGeom>
        </p:spPr>
      </p:pic>
      <p:sp>
        <p:nvSpPr>
          <p:cNvPr id="13" name="Rectangle 14">
            <a:extLst>
              <a:ext uri="{FF2B5EF4-FFF2-40B4-BE49-F238E27FC236}">
                <a16:creationId xmlns:a16="http://schemas.microsoft.com/office/drawing/2014/main" id="{1A91E891-E88A-A0B5-FA50-28F355AA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4259645"/>
            <a:ext cx="11040736" cy="202122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75712B8-33D2-DE31-431C-04728CCBED9A}"/>
              </a:ext>
            </a:extLst>
          </p:cNvPr>
          <p:cNvSpPr>
            <a:spLocks/>
          </p:cNvSpPr>
          <p:nvPr/>
        </p:nvSpPr>
        <p:spPr bwMode="auto">
          <a:xfrm>
            <a:off x="7946099" y="4335431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6CD08-02AA-6E1E-A365-D7419A961070}"/>
              </a:ext>
            </a:extLst>
          </p:cNvPr>
          <p:cNvSpPr txBox="1"/>
          <p:nvPr/>
        </p:nvSpPr>
        <p:spPr>
          <a:xfrm>
            <a:off x="5362625" y="4673985"/>
            <a:ext cx="63175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Showing steady growth and acquisition which is encouraging 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but retention/conversion questions remain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sample size for April but heading in the right direction 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due to good influx of new users overall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E650B-7A97-C641-936C-78B46E6E9952}"/>
              </a:ext>
            </a:extLst>
          </p:cNvPr>
          <p:cNvSpPr txBox="1"/>
          <p:nvPr/>
        </p:nvSpPr>
        <p:spPr>
          <a:xfrm>
            <a:off x="827538" y="4673985"/>
            <a:ext cx="3636252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Daily Active Users in general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Right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DAU / WAU for all 9 weeks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ADAB9-17A2-C02B-E61A-1CB84A6A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784482"/>
            <a:ext cx="5136662" cy="3331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46613-322C-932C-40F2-56084F8C0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772" y="795337"/>
            <a:ext cx="4814603" cy="33205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C505A2-ED9F-0D99-D0D9-273461E7D43C}"/>
              </a:ext>
            </a:extLst>
          </p:cNvPr>
          <p:cNvSpPr txBox="1"/>
          <p:nvPr/>
        </p:nvSpPr>
        <p:spPr>
          <a:xfrm>
            <a:off x="1479658" y="4263585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61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>
            <a:extLst>
              <a:ext uri="{FF2B5EF4-FFF2-40B4-BE49-F238E27FC236}">
                <a16:creationId xmlns:a16="http://schemas.microsoft.com/office/drawing/2014/main" id="{30AC6BE5-7FAD-111A-CA59-7F08DD8F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300"/>
            <a:ext cx="11040736" cy="341782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9713" y="6062662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A9F485D8-7CE0-BFDA-A7E9-F11E9DE06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4259645"/>
            <a:ext cx="11040736" cy="202122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4BCEF5-19C5-4372-9AB2-013BC5236FA3}"/>
              </a:ext>
            </a:extLst>
          </p:cNvPr>
          <p:cNvSpPr txBox="1"/>
          <p:nvPr/>
        </p:nvSpPr>
        <p:spPr>
          <a:xfrm>
            <a:off x="283216" y="838310"/>
            <a:ext cx="12089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E719C044-22A0-5D25-3A2B-9A30A08D0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6" b="1241"/>
          <a:stretch>
            <a:fillRect/>
          </a:stretch>
        </p:blipFill>
        <p:spPr>
          <a:xfrm>
            <a:off x="817326" y="859861"/>
            <a:ext cx="5946957" cy="3136541"/>
          </a:xfrm>
          <a:prstGeom prst="rect">
            <a:avLst/>
          </a:prstGeom>
        </p:spPr>
      </p:pic>
      <p:pic>
        <p:nvPicPr>
          <p:cNvPr id="11" name="Picture 10" descr="A screenshot of a graph&#10;&#10;Description automatically generated">
            <a:extLst>
              <a:ext uri="{FF2B5EF4-FFF2-40B4-BE49-F238E27FC236}">
                <a16:creationId xmlns:a16="http://schemas.microsoft.com/office/drawing/2014/main" id="{6CE8F456-8183-8A0D-2DAE-A14BF23DD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" b="1153"/>
          <a:stretch>
            <a:fillRect/>
          </a:stretch>
        </p:blipFill>
        <p:spPr>
          <a:xfrm>
            <a:off x="5190433" y="859861"/>
            <a:ext cx="5887151" cy="31643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16CD08-02AA-6E1E-A365-D7419A961070}"/>
              </a:ext>
            </a:extLst>
          </p:cNvPr>
          <p:cNvSpPr txBox="1"/>
          <p:nvPr/>
        </p:nvSpPr>
        <p:spPr>
          <a:xfrm>
            <a:off x="5676797" y="4673985"/>
            <a:ext cx="57502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 and UK grow at a much more gradual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These countries are more responsible for purchasing in 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game products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E650B-7A97-C641-936C-78B46E6E9952}"/>
              </a:ext>
            </a:extLst>
          </p:cNvPr>
          <p:cNvSpPr txBox="1"/>
          <p:nvPr/>
        </p:nvSpPr>
        <p:spPr>
          <a:xfrm>
            <a:off x="779116" y="4560046"/>
            <a:ext cx="4416017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Daily Active Trend with all countries 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included</a:t>
            </a:r>
          </a:p>
          <a:p>
            <a:pPr marL="2857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Daily Active Trend excluding India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22B4E95-58D2-2895-5720-F773A8C76897}"/>
              </a:ext>
            </a:extLst>
          </p:cNvPr>
          <p:cNvSpPr>
            <a:spLocks/>
          </p:cNvSpPr>
          <p:nvPr/>
        </p:nvSpPr>
        <p:spPr bwMode="auto">
          <a:xfrm>
            <a:off x="3148865" y="87882"/>
            <a:ext cx="58943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Helvetica" pitchFamily="2" charset="0"/>
              </a:rPr>
              <a:t>Active Users and Retention</a:t>
            </a:r>
          </a:p>
        </p:txBody>
      </p:sp>
      <p:pic>
        <p:nvPicPr>
          <p:cNvPr id="12" name="Graphic 11" descr="User network with solid fill">
            <a:extLst>
              <a:ext uri="{FF2B5EF4-FFF2-40B4-BE49-F238E27FC236}">
                <a16:creationId xmlns:a16="http://schemas.microsoft.com/office/drawing/2014/main" id="{BA8F13D0-CCFD-9A56-98F3-39B1C6192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2625" y="-20666"/>
            <a:ext cx="755703" cy="755703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2F855E5E-C13E-4A01-DC49-C7F331CEE990}"/>
              </a:ext>
            </a:extLst>
          </p:cNvPr>
          <p:cNvSpPr>
            <a:spLocks/>
          </p:cNvSpPr>
          <p:nvPr/>
        </p:nvSpPr>
        <p:spPr bwMode="auto">
          <a:xfrm>
            <a:off x="7946099" y="4335431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D8319-B7E7-E311-8305-518D359683A3}"/>
              </a:ext>
            </a:extLst>
          </p:cNvPr>
          <p:cNvSpPr txBox="1"/>
          <p:nvPr/>
        </p:nvSpPr>
        <p:spPr>
          <a:xfrm>
            <a:off x="1479658" y="4263585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3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4">
            <a:extLst>
              <a:ext uri="{FF2B5EF4-FFF2-40B4-BE49-F238E27FC236}">
                <a16:creationId xmlns:a16="http://schemas.microsoft.com/office/drawing/2014/main" id="{61890A60-3BAA-EBC0-0EF3-DF69D671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300"/>
            <a:ext cx="11040736" cy="530583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4BCEF5-19C5-4372-9AB2-013BC5236FA3}"/>
              </a:ext>
            </a:extLst>
          </p:cNvPr>
          <p:cNvSpPr txBox="1"/>
          <p:nvPr/>
        </p:nvSpPr>
        <p:spPr>
          <a:xfrm>
            <a:off x="283216" y="838310"/>
            <a:ext cx="12089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10" name="Picture 9" descr="A screenshot of a graph&#10;&#10;Description automatically generated">
            <a:extLst>
              <a:ext uri="{FF2B5EF4-FFF2-40B4-BE49-F238E27FC236}">
                <a16:creationId xmlns:a16="http://schemas.microsoft.com/office/drawing/2014/main" id="{DE9CC964-7F7D-D9E9-5B28-1D642FB01F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" t="23775" r="156"/>
          <a:stretch>
            <a:fillRect/>
          </a:stretch>
        </p:blipFill>
        <p:spPr>
          <a:xfrm>
            <a:off x="1034178" y="3501434"/>
            <a:ext cx="10199861" cy="1738596"/>
          </a:xfrm>
          <a:prstGeom prst="rect">
            <a:avLst/>
          </a:prstGeom>
        </p:spPr>
      </p:pic>
      <p:pic>
        <p:nvPicPr>
          <p:cNvPr id="13" name="Picture 12" descr="A graph with orange lines&#10;&#10;Description automatically generated with medium confidence">
            <a:extLst>
              <a:ext uri="{FF2B5EF4-FFF2-40B4-BE49-F238E27FC236}">
                <a16:creationId xmlns:a16="http://schemas.microsoft.com/office/drawing/2014/main" id="{F250EDC4-2D2F-CB38-8538-A613FDE6B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10" y="1278789"/>
            <a:ext cx="10245979" cy="227096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81DF8A0-6EB2-CA53-3970-D7CD63542FB6}"/>
              </a:ext>
            </a:extLst>
          </p:cNvPr>
          <p:cNvSpPr>
            <a:spLocks/>
          </p:cNvSpPr>
          <p:nvPr/>
        </p:nvSpPr>
        <p:spPr bwMode="auto">
          <a:xfrm>
            <a:off x="3148865" y="87882"/>
            <a:ext cx="589430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Helvetica" pitchFamily="2" charset="0"/>
              </a:rPr>
              <a:t>Active Users and Retention</a:t>
            </a:r>
          </a:p>
        </p:txBody>
      </p:sp>
      <p:pic>
        <p:nvPicPr>
          <p:cNvPr id="5" name="Graphic 4" descr="User network with solid fill">
            <a:extLst>
              <a:ext uri="{FF2B5EF4-FFF2-40B4-BE49-F238E27FC236}">
                <a16:creationId xmlns:a16="http://schemas.microsoft.com/office/drawing/2014/main" id="{F5714CEB-5C31-DFF5-F5CA-3FBA7BFDE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2625" y="-20666"/>
            <a:ext cx="755703" cy="75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8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07AFAEB-0ABE-8216-2C2B-93752C60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300"/>
            <a:ext cx="11040736" cy="361206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96B538-2065-40BC-B597-6ABC0C59598B}"/>
              </a:ext>
            </a:extLst>
          </p:cNvPr>
          <p:cNvSpPr>
            <a:spLocks/>
          </p:cNvSpPr>
          <p:nvPr/>
        </p:nvSpPr>
        <p:spPr bwMode="auto">
          <a:xfrm>
            <a:off x="3148865" y="87882"/>
            <a:ext cx="589430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Active Users and Retention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4BCEF5-19C5-4372-9AB2-013BC5236FA3}"/>
              </a:ext>
            </a:extLst>
          </p:cNvPr>
          <p:cNvSpPr txBox="1"/>
          <p:nvPr/>
        </p:nvSpPr>
        <p:spPr>
          <a:xfrm>
            <a:off x="283216" y="838310"/>
            <a:ext cx="12089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2" name="Graphic 1" descr="User network with solid fill">
            <a:extLst>
              <a:ext uri="{FF2B5EF4-FFF2-40B4-BE49-F238E27FC236}">
                <a16:creationId xmlns:a16="http://schemas.microsoft.com/office/drawing/2014/main" id="{277E5608-F0F4-E518-51C9-3990480C0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5262" y="-20666"/>
            <a:ext cx="755703" cy="755703"/>
          </a:xfrm>
          <a:prstGeom prst="rect">
            <a:avLst/>
          </a:prstGeom>
        </p:spPr>
      </p:pic>
      <p:pic>
        <p:nvPicPr>
          <p:cNvPr id="3" name="Picture 2" descr="A graph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EA66678F-11AC-1FDE-72F1-628BA18DE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t="1052" r="18263" b="3879"/>
          <a:stretch>
            <a:fillRect/>
          </a:stretch>
        </p:blipFill>
        <p:spPr>
          <a:xfrm>
            <a:off x="2502019" y="1018634"/>
            <a:ext cx="7046805" cy="3221549"/>
          </a:xfrm>
          <a:prstGeom prst="rect">
            <a:avLst/>
          </a:prstGeom>
        </p:spPr>
      </p:pic>
      <p:sp>
        <p:nvSpPr>
          <p:cNvPr id="4" name="Line 5">
            <a:extLst>
              <a:ext uri="{FF2B5EF4-FFF2-40B4-BE49-F238E27FC236}">
                <a16:creationId xmlns:a16="http://schemas.microsoft.com/office/drawing/2014/main" id="{68FE0EF1-D398-7F2C-F693-1E7737C92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9713" y="6062662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1D55CAB-73EA-300C-1E94-9471D42D0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4492428"/>
            <a:ext cx="11040736" cy="204143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F83A5A-BB6F-4C41-D4C9-7FAB75ADB04A}"/>
              </a:ext>
            </a:extLst>
          </p:cNvPr>
          <p:cNvSpPr txBox="1"/>
          <p:nvPr/>
        </p:nvSpPr>
        <p:spPr>
          <a:xfrm>
            <a:off x="737756" y="4877292"/>
            <a:ext cx="5124801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2 Plots (Previous Slide)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counts by acquisition type and country</a:t>
            </a:r>
          </a:p>
          <a:p>
            <a:pPr marL="2857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Last Plot (Above)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user distribution compared to actual 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market share by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10319-42CD-6875-2F97-798778ADAB40}"/>
              </a:ext>
            </a:extLst>
          </p:cNvPr>
          <p:cNvSpPr txBox="1"/>
          <p:nvPr/>
        </p:nvSpPr>
        <p:spPr>
          <a:xfrm>
            <a:off x="5624404" y="4916874"/>
            <a:ext cx="61228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Lack of interest and commitment from IOS users in general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Taking out population bias we can see we are missing the 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mark in the US and UK specifically with IOS 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A51091-69F6-45F3-F825-6E1B28D5CE54}"/>
              </a:ext>
            </a:extLst>
          </p:cNvPr>
          <p:cNvSpPr txBox="1"/>
          <p:nvPr/>
        </p:nvSpPr>
        <p:spPr>
          <a:xfrm>
            <a:off x="1479658" y="4487515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E345797-8C9B-E858-790A-F622D43D8598}"/>
              </a:ext>
            </a:extLst>
          </p:cNvPr>
          <p:cNvSpPr>
            <a:spLocks/>
          </p:cNvSpPr>
          <p:nvPr/>
        </p:nvSpPr>
        <p:spPr bwMode="auto">
          <a:xfrm>
            <a:off x="7946099" y="4559361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DC59D7-B618-F2FF-316D-74F440AB2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3324"/>
          <a:stretch>
            <a:fillRect/>
          </a:stretch>
        </p:blipFill>
        <p:spPr>
          <a:xfrm>
            <a:off x="2528922" y="3580688"/>
            <a:ext cx="1523407" cy="67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33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>
            <a:extLst>
              <a:ext uri="{FF2B5EF4-FFF2-40B4-BE49-F238E27FC236}">
                <a16:creationId xmlns:a16="http://schemas.microsoft.com/office/drawing/2014/main" id="{B5538FDB-A21C-500E-A174-50647661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49" y="791445"/>
            <a:ext cx="4862513" cy="548942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BEE6D2A-67A4-BE0A-DFD2-C8FFC3269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3376614"/>
            <a:ext cx="6560501" cy="290425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96B538-2065-40BC-B597-6ABC0C59598B}"/>
              </a:ext>
            </a:extLst>
          </p:cNvPr>
          <p:cNvSpPr>
            <a:spLocks/>
          </p:cNvSpPr>
          <p:nvPr/>
        </p:nvSpPr>
        <p:spPr bwMode="auto">
          <a:xfrm>
            <a:off x="2056276" y="99570"/>
            <a:ext cx="831663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Stickiness Longevity and Consistency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A632C7-2BFF-4648-ABBF-D6458BD30EF2}"/>
              </a:ext>
            </a:extLst>
          </p:cNvPr>
          <p:cNvSpPr txBox="1"/>
          <p:nvPr/>
        </p:nvSpPr>
        <p:spPr>
          <a:xfrm>
            <a:off x="852346" y="3634704"/>
            <a:ext cx="609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Game resolution counts by consistency levels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Bottom Table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Game mode averages for loyal and un-loyal users 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318A2B4-381C-59D9-75F8-39C76D255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930" y="4267557"/>
            <a:ext cx="3687649" cy="1924871"/>
          </a:xfrm>
          <a:prstGeom prst="rect">
            <a:avLst/>
          </a:prstGeom>
        </p:spPr>
      </p:pic>
      <p:pic>
        <p:nvPicPr>
          <p:cNvPr id="3" name="Graphic 2" descr="Bullseye with solid fill">
            <a:extLst>
              <a:ext uri="{FF2B5EF4-FFF2-40B4-BE49-F238E27FC236}">
                <a16:creationId xmlns:a16="http://schemas.microsoft.com/office/drawing/2014/main" id="{C1D970D3-2F1D-3419-C3EF-4AD694AA0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6881" y="0"/>
            <a:ext cx="687003" cy="6870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335519-B6CE-5A5C-997E-843AA157AAC8}"/>
              </a:ext>
            </a:extLst>
          </p:cNvPr>
          <p:cNvSpPr txBox="1"/>
          <p:nvPr/>
        </p:nvSpPr>
        <p:spPr>
          <a:xfrm>
            <a:off x="49352" y="1098177"/>
            <a:ext cx="78148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2060"/>
                </a:solidFill>
              </a:rPr>
              <a:t>Longevity = Latest Day Active / Days Since Download </a:t>
            </a:r>
          </a:p>
          <a:p>
            <a:endParaRPr lang="en-US" sz="2200" dirty="0">
              <a:solidFill>
                <a:srgbClr val="002060"/>
              </a:solidFill>
            </a:endParaRPr>
          </a:p>
          <a:p>
            <a:r>
              <a:rPr lang="en-US" sz="2200" dirty="0">
                <a:solidFill>
                  <a:srgbClr val="002060"/>
                </a:solidFill>
              </a:rPr>
              <a:t>Consistency = # of Days Active / Days Since Download</a:t>
            </a:r>
          </a:p>
          <a:p>
            <a:endParaRPr lang="en-US" sz="2200" dirty="0">
              <a:solidFill>
                <a:srgbClr val="002060"/>
              </a:solidFill>
            </a:endParaRPr>
          </a:p>
          <a:p>
            <a:r>
              <a:rPr lang="en-US" sz="2200" dirty="0">
                <a:solidFill>
                  <a:srgbClr val="002060"/>
                </a:solidFill>
              </a:rPr>
              <a:t>Loyalty = Combination of exceling at both (&gt;75%)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D57FA-E366-B24F-7BED-6CBFC747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0" t="2084" r="1298"/>
          <a:stretch>
            <a:fillRect/>
          </a:stretch>
        </p:blipFill>
        <p:spPr>
          <a:xfrm>
            <a:off x="7299113" y="1098177"/>
            <a:ext cx="4586749" cy="32371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8B263E-7B2E-AAAE-8F89-9933C05DE6FB}"/>
              </a:ext>
            </a:extLst>
          </p:cNvPr>
          <p:cNvSpPr txBox="1"/>
          <p:nvPr/>
        </p:nvSpPr>
        <p:spPr>
          <a:xfrm>
            <a:off x="852346" y="5198142"/>
            <a:ext cx="5969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 win across the board showing </a:t>
            </a: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over ease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Loyal users tend to challenge themselves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with quick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and bot modes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25EC4-FA9F-7885-C92A-F0F564EA5899}"/>
              </a:ext>
            </a:extLst>
          </p:cNvPr>
          <p:cNvSpPr txBox="1"/>
          <p:nvPr/>
        </p:nvSpPr>
        <p:spPr>
          <a:xfrm>
            <a:off x="2655315" y="3343582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53DE058-2464-DF5B-704D-D498F0C37471}"/>
              </a:ext>
            </a:extLst>
          </p:cNvPr>
          <p:cNvSpPr>
            <a:spLocks/>
          </p:cNvSpPr>
          <p:nvPr/>
        </p:nvSpPr>
        <p:spPr bwMode="auto">
          <a:xfrm>
            <a:off x="2731117" y="4891438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25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241C9693-9FDA-5674-3AB0-AE7E5944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300"/>
            <a:ext cx="11040736" cy="361206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C1DC4F7-5966-F773-9D1E-11869250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4492428"/>
            <a:ext cx="11040736" cy="204143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CBF9A7-5490-4DA7-A983-3B210C3EF20A}"/>
              </a:ext>
            </a:extLst>
          </p:cNvPr>
          <p:cNvSpPr txBox="1"/>
          <p:nvPr/>
        </p:nvSpPr>
        <p:spPr>
          <a:xfrm>
            <a:off x="6582228" y="4846471"/>
            <a:ext cx="5183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 take on average </a:t>
            </a: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7.69 days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downloading to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make first purchase if at all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 committed players are not reaching that threshold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4EEB6-CB92-42E4-A2B5-8472399FF42E}"/>
              </a:ext>
            </a:extLst>
          </p:cNvPr>
          <p:cNvSpPr txBox="1"/>
          <p:nvPr/>
        </p:nvSpPr>
        <p:spPr>
          <a:xfrm>
            <a:off x="682504" y="4837008"/>
            <a:ext cx="582230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Plot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purchasers by days to make first purchase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Highlighted as committed and less committed users</a:t>
            </a:r>
          </a:p>
          <a:p>
            <a:pPr marL="2857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 Plot</a:t>
            </a:r>
          </a:p>
          <a:p>
            <a:pPr marL="742950" lvl="2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last day recorded active after joining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graph with red lines&#10;&#10;Description automatically generated">
            <a:extLst>
              <a:ext uri="{FF2B5EF4-FFF2-40B4-BE49-F238E27FC236}">
                <a16:creationId xmlns:a16="http://schemas.microsoft.com/office/drawing/2014/main" id="{3C779727-72A8-6095-83C5-4B8BE85B1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151" y="777943"/>
            <a:ext cx="1872937" cy="3527155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AA656F8-203F-98B1-4DED-3B6D13CBF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31" y="916453"/>
            <a:ext cx="6257846" cy="3387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042ADC-ABF2-F6C7-4028-B8EA9F014FDB}"/>
              </a:ext>
            </a:extLst>
          </p:cNvPr>
          <p:cNvSpPr txBox="1"/>
          <p:nvPr/>
        </p:nvSpPr>
        <p:spPr>
          <a:xfrm>
            <a:off x="1479658" y="4487515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E602603-ECA9-DBC4-0F4B-4F5D98C04CAF}"/>
              </a:ext>
            </a:extLst>
          </p:cNvPr>
          <p:cNvSpPr>
            <a:spLocks/>
          </p:cNvSpPr>
          <p:nvPr/>
        </p:nvSpPr>
        <p:spPr bwMode="auto">
          <a:xfrm>
            <a:off x="7946099" y="4559361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9C16945-A56C-7265-9B96-98C7542A01D1}"/>
              </a:ext>
            </a:extLst>
          </p:cNvPr>
          <p:cNvSpPr>
            <a:spLocks/>
          </p:cNvSpPr>
          <p:nvPr/>
        </p:nvSpPr>
        <p:spPr bwMode="auto">
          <a:xfrm>
            <a:off x="3051263" y="49738"/>
            <a:ext cx="6089489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Conversion and Purchasing</a:t>
            </a:r>
          </a:p>
        </p:txBody>
      </p:sp>
      <p:pic>
        <p:nvPicPr>
          <p:cNvPr id="15" name="Graphic 14" descr="Money with solid fill">
            <a:extLst>
              <a:ext uri="{FF2B5EF4-FFF2-40B4-BE49-F238E27FC236}">
                <a16:creationId xmlns:a16="http://schemas.microsoft.com/office/drawing/2014/main" id="{4911A54E-30A4-DDEA-DADA-9449055C8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6801" y="0"/>
            <a:ext cx="624548" cy="6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5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>
            <a:extLst>
              <a:ext uri="{FF2B5EF4-FFF2-40B4-BE49-F238E27FC236}">
                <a16:creationId xmlns:a16="http://schemas.microsoft.com/office/drawing/2014/main" id="{E4C6EC81-5899-3DBB-AE51-2A556E9DD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3232992"/>
            <a:ext cx="11040736" cy="362500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9CE66B48-BF5A-4CBE-8578-A0DA0B27D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760741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B2F3AE08-E991-0515-AC70-FD7443449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2" y="747299"/>
            <a:ext cx="11040736" cy="242510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en-US" altLang="en-US" sz="4200" dirty="0"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1600" dirty="0">
              <a:cs typeface="Calibri" panose="020F0502020204030204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59A4CE1-323A-4D83-B529-F9443B45A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96B538-2065-40BC-B597-6ABC0C59598B}"/>
              </a:ext>
            </a:extLst>
          </p:cNvPr>
          <p:cNvSpPr>
            <a:spLocks/>
          </p:cNvSpPr>
          <p:nvPr/>
        </p:nvSpPr>
        <p:spPr bwMode="auto">
          <a:xfrm>
            <a:off x="3051263" y="49738"/>
            <a:ext cx="6089489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Conversion and Purchasing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CBF9A7-5490-4DA7-A983-3B210C3EF20A}"/>
              </a:ext>
            </a:extLst>
          </p:cNvPr>
          <p:cNvSpPr txBox="1"/>
          <p:nvPr/>
        </p:nvSpPr>
        <p:spPr>
          <a:xfrm>
            <a:off x="6931504" y="1028553"/>
            <a:ext cx="441012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 rates are low across the board but slightly better in </a:t>
            </a: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 &amp; UK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Profits are nearly double amongst loyal consumers especially with </a:t>
            </a: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promotions and season passes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Users tend to purchase </a:t>
            </a:r>
            <a:r>
              <a:rPr lang="en-US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gems and promotions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4EEB6-CB92-42E4-A2B5-8472399FF42E}"/>
              </a:ext>
            </a:extLst>
          </p:cNvPr>
          <p:cNvSpPr txBox="1"/>
          <p:nvPr/>
        </p:nvSpPr>
        <p:spPr>
          <a:xfrm>
            <a:off x="1005552" y="1012447"/>
            <a:ext cx="617467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 Graphic</a:t>
            </a:r>
          </a:p>
          <a:p>
            <a:pPr marL="742950" lvl="1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consistency purchase types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Right Table</a:t>
            </a:r>
          </a:p>
          <a:p>
            <a:pPr marL="742950" lvl="1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 Rate by country all below 2% 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Bottom Right Table</a:t>
            </a:r>
          </a:p>
          <a:p>
            <a:pPr marL="742950" lvl="2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profit potential significantly higher with loyal users</a:t>
            </a:r>
          </a:p>
        </p:txBody>
      </p:sp>
      <p:pic>
        <p:nvPicPr>
          <p:cNvPr id="41" name="Graphic 40" descr="Money with solid fill">
            <a:extLst>
              <a:ext uri="{FF2B5EF4-FFF2-40B4-BE49-F238E27FC236}">
                <a16:creationId xmlns:a16="http://schemas.microsoft.com/office/drawing/2014/main" id="{65BA8DE1-BEA8-4214-9571-E2DBCE5CF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86801" y="0"/>
            <a:ext cx="624548" cy="624548"/>
          </a:xfrm>
          <a:prstGeom prst="rect">
            <a:avLst/>
          </a:prstGeom>
        </p:spPr>
      </p:pic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B676959-2FBF-45FD-34C8-E4A3E2ECB8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0" b="7370"/>
          <a:stretch/>
        </p:blipFill>
        <p:spPr>
          <a:xfrm>
            <a:off x="5864937" y="4725575"/>
            <a:ext cx="5355123" cy="201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E26DB-84D4-5E6A-BB24-69C467E3C8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5" t="4401" r="2252" b="4727"/>
          <a:stretch/>
        </p:blipFill>
        <p:spPr>
          <a:xfrm>
            <a:off x="5837650" y="3303655"/>
            <a:ext cx="5373080" cy="1299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B1D9E-BB97-9730-C2B3-5CBE114124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16"/>
          <a:stretch/>
        </p:blipFill>
        <p:spPr>
          <a:xfrm>
            <a:off x="889437" y="3280284"/>
            <a:ext cx="4858256" cy="35192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FEBFB5-6A55-78A8-D2C1-CBC8EBE07704}"/>
              </a:ext>
            </a:extLst>
          </p:cNvPr>
          <p:cNvSpPr txBox="1"/>
          <p:nvPr/>
        </p:nvSpPr>
        <p:spPr>
          <a:xfrm>
            <a:off x="1822909" y="685136"/>
            <a:ext cx="2332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/>
                <a:ea typeface="ヒラギノ角ゴ ProN W3"/>
                <a:cs typeface="Times New Roman"/>
                <a:sym typeface="Helvetica" pitchFamily="2" charset="0"/>
              </a:rPr>
              <a:t>What’s Shown?</a:t>
            </a:r>
            <a:endParaRPr kumimoji="0" lang="en-US" altLang="en-US" sz="2200" b="0" i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ckwell" panose="02060603020205020403"/>
              <a:ea typeface="ヒラギノ角ゴ ProN W3"/>
              <a:cs typeface="Times New Roman"/>
              <a:sym typeface="Helvetica" pitchFamily="2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54FC32B-2A27-7220-29D0-17AAF453A5D1}"/>
              </a:ext>
            </a:extLst>
          </p:cNvPr>
          <p:cNvSpPr>
            <a:spLocks/>
          </p:cNvSpPr>
          <p:nvPr/>
        </p:nvSpPr>
        <p:spPr bwMode="auto">
          <a:xfrm>
            <a:off x="8289350" y="756982"/>
            <a:ext cx="2120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FontTx/>
              <a:buNone/>
            </a:pPr>
            <a:r>
              <a:rPr lang="en-US" altLang="en-US" sz="2200" b="1" dirty="0">
                <a:solidFill>
                  <a:srgbClr val="FF0000"/>
                </a:solidFill>
                <a:latin typeface="+mn-lt"/>
                <a:ea typeface="ヒラギノ角ゴ ProN W3"/>
                <a:cs typeface="Times New Roman"/>
                <a:sym typeface="Helvetica" pitchFamily="2" charset="0"/>
              </a:rPr>
              <a:t>Key Takeaways</a:t>
            </a:r>
            <a:endParaRPr lang="en-US" altLang="en-US" sz="2200" dirty="0">
              <a:solidFill>
                <a:srgbClr val="FF0000"/>
              </a:solidFill>
              <a:latin typeface="+mn-lt"/>
              <a:ea typeface="ヒラギノ角ゴ ProN W3"/>
              <a:cs typeface="Times New Roman"/>
              <a:sym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7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5">
            <a:extLst>
              <a:ext uri="{FF2B5EF4-FFF2-40B4-BE49-F238E27FC236}">
                <a16:creationId xmlns:a16="http://schemas.microsoft.com/office/drawing/2014/main" id="{754A8C90-B17D-4EF2-91A0-5A7523675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92956EEB-290F-4529-8369-BB1257A2B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BADBC-7331-099C-9895-CA6F9F55D1B6}"/>
              </a:ext>
            </a:extLst>
          </p:cNvPr>
          <p:cNvSpPr txBox="1"/>
          <p:nvPr/>
        </p:nvSpPr>
        <p:spPr>
          <a:xfrm>
            <a:off x="378619" y="722943"/>
            <a:ext cx="114347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</a:rPr>
              <a:t>The Situation at hand:</a:t>
            </a:r>
          </a:p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1. We are missing the mark on IOS user attraction and committal 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2. US and UK users are leading the way in purchasing even with lower users than expected</a:t>
            </a:r>
            <a:endParaRPr lang="en-US" sz="2400" u="sng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3. We are illustrating good growth and retention but a </a:t>
            </a:r>
            <a:r>
              <a:rPr lang="en-US" sz="2400" u="sng" dirty="0">
                <a:solidFill>
                  <a:srgbClr val="002060"/>
                </a:solidFill>
              </a:rPr>
              <a:t>very low conversion rate</a:t>
            </a:r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4. Users take on average </a:t>
            </a:r>
            <a:r>
              <a:rPr lang="en-US" sz="2400" u="sng" dirty="0">
                <a:solidFill>
                  <a:srgbClr val="002060"/>
                </a:solidFill>
              </a:rPr>
              <a:t>7.69 days </a:t>
            </a:r>
            <a:r>
              <a:rPr lang="en-US" sz="2400" dirty="0">
                <a:solidFill>
                  <a:srgbClr val="002060"/>
                </a:solidFill>
              </a:rPr>
              <a:t>to make a first purchase if at all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5. Win rates are extremely high across the board and loyal users have increased rates of quick and bot game modes (challenge modes)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6. There are also minor increases of disconnection issues in unsatisfied users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65CD50-4FDF-5482-E278-2FAD7BF47DA1}"/>
              </a:ext>
            </a:extLst>
          </p:cNvPr>
          <p:cNvSpPr>
            <a:spLocks/>
          </p:cNvSpPr>
          <p:nvPr/>
        </p:nvSpPr>
        <p:spPr bwMode="auto">
          <a:xfrm>
            <a:off x="3356883" y="63148"/>
            <a:ext cx="6192081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Recommendation Summary</a:t>
            </a:r>
          </a:p>
        </p:txBody>
      </p:sp>
      <p:pic>
        <p:nvPicPr>
          <p:cNvPr id="4" name="Graphic 3" descr="Presentation with pie chart with solid fill">
            <a:extLst>
              <a:ext uri="{FF2B5EF4-FFF2-40B4-BE49-F238E27FC236}">
                <a16:creationId xmlns:a16="http://schemas.microsoft.com/office/drawing/2014/main" id="{E1152376-237F-D010-1F35-4A0D98020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1958" y="-6609"/>
            <a:ext cx="687003" cy="6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59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5">
            <a:extLst>
              <a:ext uri="{FF2B5EF4-FFF2-40B4-BE49-F238E27FC236}">
                <a16:creationId xmlns:a16="http://schemas.microsoft.com/office/drawing/2014/main" id="{754A8C90-B17D-4EF2-91A0-5A7523675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40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92956EEB-290F-4529-8369-BB1257A2B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671513"/>
            <a:ext cx="9144000" cy="0"/>
          </a:xfrm>
          <a:prstGeom prst="line">
            <a:avLst/>
          </a:prstGeom>
          <a:noFill/>
          <a:ln w="25400">
            <a:solidFill>
              <a:srgbClr val="045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69959712-4204-43B1-BC44-81E73A4363BB}"/>
              </a:ext>
            </a:extLst>
          </p:cNvPr>
          <p:cNvSpPr>
            <a:spLocks/>
          </p:cNvSpPr>
          <p:nvPr/>
        </p:nvSpPr>
        <p:spPr bwMode="auto">
          <a:xfrm>
            <a:off x="3356883" y="63148"/>
            <a:ext cx="6192081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algn="ctr">
              <a:buChar char="•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algn="ctr">
              <a:buChar char="–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algn="ctr"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500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  <a:sym typeface="Helvetica" pitchFamily="2" charset="0"/>
              </a:rPr>
              <a:t>Recommendation Summary</a:t>
            </a:r>
          </a:p>
        </p:txBody>
      </p:sp>
      <p:pic>
        <p:nvPicPr>
          <p:cNvPr id="37" name="Graphic 36" descr="Presentation with pie chart with solid fill">
            <a:extLst>
              <a:ext uri="{FF2B5EF4-FFF2-40B4-BE49-F238E27FC236}">
                <a16:creationId xmlns:a16="http://schemas.microsoft.com/office/drawing/2014/main" id="{CF49C4C4-4F20-4249-A44A-6207C0B66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1958" y="-6609"/>
            <a:ext cx="687003" cy="6870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1BADBC-7331-099C-9895-CA6F9F55D1B6}"/>
              </a:ext>
            </a:extLst>
          </p:cNvPr>
          <p:cNvSpPr txBox="1"/>
          <p:nvPr/>
        </p:nvSpPr>
        <p:spPr>
          <a:xfrm>
            <a:off x="259606" y="768489"/>
            <a:ext cx="11434762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>
                <a:solidFill>
                  <a:srgbClr val="002060"/>
                </a:solidFill>
              </a:rPr>
              <a:t>My recommendations: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u="sng" dirty="0">
                <a:solidFill>
                  <a:srgbClr val="002060"/>
                </a:solidFill>
              </a:rPr>
              <a:t>1 &amp; 2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Allocate resources to address marketing towards IOS, US, and UK including Social Media approach</a:t>
            </a:r>
          </a:p>
          <a:p>
            <a:r>
              <a:rPr lang="en-US" sz="2400" u="sng" dirty="0">
                <a:solidFill>
                  <a:srgbClr val="002060"/>
                </a:solidFill>
              </a:rPr>
              <a:t>3 &amp; 4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Implement a 1-2 week promotion or free trial (season pass) to get users involved including daily rewards and incentives </a:t>
            </a:r>
          </a:p>
          <a:p>
            <a:r>
              <a:rPr lang="en-US" sz="2400" u="sng" dirty="0">
                <a:solidFill>
                  <a:srgbClr val="002060"/>
                </a:solidFill>
              </a:rPr>
              <a:t>5 &amp; 6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Allocate Development resources to optimize server quality and implement choice of competition level (Easy, Medium, Hard) or different timed versions to increase difficulty for players seeking a challenge</a:t>
            </a:r>
          </a:p>
          <a:p>
            <a:r>
              <a:rPr lang="en-US" sz="2400" u="sng" dirty="0">
                <a:solidFill>
                  <a:srgbClr val="002060"/>
                </a:solidFill>
              </a:rPr>
              <a:t>Overall: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Implement alterations and extend timeline of trial to collect more data</a:t>
            </a:r>
          </a:p>
        </p:txBody>
      </p:sp>
    </p:spTree>
    <p:extLst>
      <p:ext uri="{BB962C8B-B14F-4D97-AF65-F5344CB8AC3E}">
        <p14:creationId xmlns:p14="http://schemas.microsoft.com/office/powerpoint/2010/main" val="507856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0BF7A6AE2D4B4F997F04BA04EA87B7" ma:contentTypeVersion="7" ma:contentTypeDescription="Create a new document." ma:contentTypeScope="" ma:versionID="c66f82cafea3d25a7aa5d90539b7cb80">
  <xsd:schema xmlns:xsd="http://www.w3.org/2001/XMLSchema" xmlns:xs="http://www.w3.org/2001/XMLSchema" xmlns:p="http://schemas.microsoft.com/office/2006/metadata/properties" xmlns:ns3="6af8d281-0e61-4191-9273-f920b3356478" xmlns:ns4="549b02a4-2e87-4e3c-b462-3ebbe22108ea" targetNamespace="http://schemas.microsoft.com/office/2006/metadata/properties" ma:root="true" ma:fieldsID="53c9dd1752fd446445a40a78d9f00569" ns3:_="" ns4:_="">
    <xsd:import namespace="6af8d281-0e61-4191-9273-f920b3356478"/>
    <xsd:import namespace="549b02a4-2e87-4e3c-b462-3ebbe22108e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8d281-0e61-4191-9273-f920b33564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9b02a4-2e87-4e3c-b462-3ebbe2210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ED87B6-1065-4BEB-A2F8-F830CD203A75}">
  <ds:schemaRefs>
    <ds:schemaRef ds:uri="549b02a4-2e87-4e3c-b462-3ebbe22108ea"/>
    <ds:schemaRef ds:uri="6af8d281-0e61-4191-9273-f920b3356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E7A9B3-BD7C-42BC-A73C-10B2289387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3C9091-E572-46C7-9AF9-22D60107ED74}">
  <ds:schemaRefs>
    <ds:schemaRef ds:uri="549b02a4-2e87-4e3c-b462-3ebbe22108ea"/>
    <ds:schemaRef ds:uri="6af8d281-0e61-4191-9273-f920b33564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1725</TotalTime>
  <Words>709</Words>
  <Application>Microsoft Office PowerPoint</Application>
  <PresentationFormat>Widescreen</PresentationFormat>
  <Paragraphs>125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Courier New</vt:lpstr>
      <vt:lpstr>Rockwell</vt:lpstr>
      <vt:lpstr>Rockwell Condensed</vt:lpstr>
      <vt:lpstr>Times New Roman</vt:lpstr>
      <vt:lpstr>Wingdings</vt:lpstr>
      <vt:lpstr>Wood Type</vt:lpstr>
      <vt:lpstr>New Interactive Puzzle Game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MBTA Performance Evaluation</dc:title>
  <dc:creator>Vincenzo Coppola</dc:creator>
  <cp:lastModifiedBy>Coppola, Vincenzo</cp:lastModifiedBy>
  <cp:revision>14</cp:revision>
  <dcterms:created xsi:type="dcterms:W3CDTF">2022-03-28T18:26:40Z</dcterms:created>
  <dcterms:modified xsi:type="dcterms:W3CDTF">2026-05-13T15:46:24Z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0x010100B30BF7A6AE2D4B4F997F04BA04EA87B7</vt:lpwstr>
  </property>
</Properties>
</file>